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51bd5ca9e14013" /><Relationship Type="http://schemas.openxmlformats.org/officeDocument/2006/relationships/extended-properties" Target="/docProps/app.xml" Id="R7bc09428d60b4591" /><Relationship Type="http://schemas.openxmlformats.org/officeDocument/2006/relationships/officeDocument" Target="/ppt/presentation.xml" Id="R9b26e17ffc5946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6952553b054073"/>
  </p:sldMasterIdLst>
  <p:notesMasterIdLst>
    <p:notesMasterId xmlns:r="http://schemas.openxmlformats.org/officeDocument/2006/relationships" r:id="R23a871394eda460c"/>
  </p:notesMasterIdLst>
  <p:sldIdLst>
    <p:sldId xmlns:r="http://schemas.openxmlformats.org/officeDocument/2006/relationships" id="256" r:id="Rbff7f8a452df46da"/>
    <p:sldId xmlns:r="http://schemas.openxmlformats.org/officeDocument/2006/relationships" id="257" r:id="R344a50e1703049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f8fb16d10f436f" /><Relationship Type="http://schemas.openxmlformats.org/officeDocument/2006/relationships/slideMaster" Target="/ppt/slideMasters/slideMaster1.xml" Id="Re26952553b054073" /><Relationship Type="http://schemas.openxmlformats.org/officeDocument/2006/relationships/notesMaster" Target="/ppt/notesMasters/notesMaster1.xml" Id="R23a871394eda460c" /><Relationship Type="http://schemas.openxmlformats.org/officeDocument/2006/relationships/presProps" Target="/ppt/presProps.xml" Id="R0c0663dd67b0412e" /><Relationship Type="http://schemas.openxmlformats.org/officeDocument/2006/relationships/tableStyles" Target="/ppt/tableStyles.xml" Id="R908de31078304631" /><Relationship Type="http://schemas.openxmlformats.org/officeDocument/2006/relationships/slide" Target="/ppt/slides/slide1.xml" Id="Rbff7f8a452df46da" /><Relationship Type="http://schemas.openxmlformats.org/officeDocument/2006/relationships/slide" Target="/ppt/slides/slide2.xml" Id="R344a50e1703049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1d337a9d9442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7164e05b04467e" /><Relationship Type="http://schemas.openxmlformats.org/officeDocument/2006/relationships/notesMaster" Target="/ppt/notesMasters/notesMaster1.xml" Id="Rd23647c0fafe40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0295c7d9a34f4d" /><Relationship Type="http://schemas.openxmlformats.org/officeDocument/2006/relationships/notesMaster" Target="/ppt/notesMasters/notesMaster1.xml" Id="R2cf3fafce9de41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73e854ad24c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c0bfc1ad7b4eea" /><Relationship Type="http://schemas.openxmlformats.org/officeDocument/2006/relationships/slideLayout" Target="/ppt/slideLayouts/slideLayout1.xml" Id="R8e6f0fd5c1cb4e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6f0fd5c1cb4e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cd3d54ab04322" /><Relationship Type="http://schemas.openxmlformats.org/officeDocument/2006/relationships/image" Target="/ppt/media/image.png" Id="Ree5a241d9c1542ec" /><Relationship Type="http://schemas.openxmlformats.org/officeDocument/2006/relationships/image" Target="/ppt/media/image2.png" Id="Rc624d9cea15d4239" /><Relationship Type="http://schemas.openxmlformats.org/officeDocument/2006/relationships/image" Target="/ppt/media/image3.png" Id="Rc9135dcd294b4ea0" /><Relationship Type="http://schemas.openxmlformats.org/officeDocument/2006/relationships/image" Target="/ppt/media/image4.png" Id="R20665f6651254010" /><Relationship Type="http://schemas.openxmlformats.org/officeDocument/2006/relationships/notesSlide" Target="/ppt/notesSlides/notesSlide1.xml" Id="R2f56114a44dc4c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7bf54fb3f4532" /><Relationship Type="http://schemas.openxmlformats.org/officeDocument/2006/relationships/image" Target="/ppt/media/image5.png" Id="Re6179a9e185b45a0" /><Relationship Type="http://schemas.openxmlformats.org/officeDocument/2006/relationships/image" Target="/ppt/media/image6.png" Id="Rde6de2fed1d945ea" /><Relationship Type="http://schemas.openxmlformats.org/officeDocument/2006/relationships/image" Target="/ppt/media/image7.png" Id="Rcce8b90a4860453b" /><Relationship Type="http://schemas.openxmlformats.org/officeDocument/2006/relationships/image" Target="/ppt/media/image8.png" Id="Rbd9927810d314e2d" /><Relationship Type="http://schemas.openxmlformats.org/officeDocument/2006/relationships/notesSlide" Target="/ppt/notesSlides/notesSlide2.xml" Id="R7d4255761a0e4d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F411A5-1ACC-4C65-8778-982738EB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38100"/>
            <a:ext cx="12115800" cy="678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2038C0-1078-49F9-BEFE-2FFA60EB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4214C"/>
                </a:solidFill>
              </a:defRPr>
            </a:pPr>
            <a:r>
              <a:rPr sz="2925" b="1" i="0">
                <a:solidFill>
                  <a:srgbClr val="14214C"/>
                </a:solidFill>
              </a:rPr>
              <a:t>Defining a Successful Strategy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A8D1028-789A-47E1-9E20-6806030F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78"/>
                </a:solidFill>
              </a:defRPr>
            </a:pPr>
            <a:r>
              <a:rPr sz="1275" b="0" i="0">
                <a:solidFill>
                  <a:srgbClr val="526078"/>
                </a:solidFill>
              </a:rPr>
              <a:t>The best schedule minimizes the exact cost of opening counters and expected unmet demand.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E5D5F-1387-4555-A494-22569C4F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bjective-label">
            <a:extLst xmlns:a="http://schemas.openxmlformats.org/drawingml/2006/main">
              <a:ext uri="{FF2B5EF4-FFF2-40B4-BE49-F238E27FC236}">
                <a16:creationId xmlns:a16="http://schemas.microsoft.com/office/drawing/2014/main" id="{FB3C143A-6685-4F08-AAEA-D9C04529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8D0F6"/>
                </a:solidFill>
              </a:defRPr>
            </a:pPr>
            <a:r>
              <a:rPr sz="1050" b="1" i="0">
                <a:solidFill>
                  <a:srgbClr val="C8D0F6"/>
                </a:solidFill>
              </a:rPr>
              <a:t>FINAL EVALUATION FUNCTION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a241d9c1542ec"/>
          <a:stretch xmlns:a="http://schemas.openxmlformats.org/drawingml/2006/main"/>
        </p:blipFill>
        <p:spPr>
          <a:xfrm xmlns:a="http://schemas.openxmlformats.org/drawingml/2006/main">
            <a:off x="2023110" y="1924050"/>
            <a:ext cx="7002780" cy="457200"/>
          </a:xfrm>
          <a:prstGeom xmlns:a="http://schemas.openxmlformats.org/drawingml/2006/main" prst="rect">
            <a:avLst/>
          </a:prstGeom>
        </p:spPr>
      </p:pic>
      <p:sp>
        <p:nvSpPr>
          <p:cNvPr id="7" name="formula-legend">
            <a:extLst xmlns:a="http://schemas.openxmlformats.org/drawingml/2006/main">
              <a:ext uri="{FF2B5EF4-FFF2-40B4-BE49-F238E27FC236}">
                <a16:creationId xmlns:a16="http://schemas.microsoft.com/office/drawing/2014/main" id="{D9D296DA-3E79-4D89-B95E-45D22A98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90775"/>
            <a:ext cx="885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DE3FF"/>
                </a:solidFill>
              </a:defRPr>
            </a:pPr>
            <a:r>
              <a:rPr sz="1125" b="0" i="0">
                <a:solidFill>
                  <a:srgbClr val="DDE3FF"/>
                </a:solidFill>
              </a:rPr>
              <a:t>open-counter cost                    +                    expected shortage penalty</a:t>
            </a:r>
          </a:p>
        </p:txBody>
      </p:sp>
      <p:sp>
        <p:nvSpPr>
          <p:cNvPr id="8" name="worked-example-title">
            <a:extLst xmlns:a="http://schemas.openxmlformats.org/drawingml/2006/main">
              <a:ext uri="{FF2B5EF4-FFF2-40B4-BE49-F238E27FC236}">
                <a16:creationId xmlns:a16="http://schemas.microsoft.com/office/drawing/2014/main" id="{5734E8D6-88BA-4E2D-8760-BC3BDEAD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214C"/>
                </a:solidFill>
              </a:defRPr>
            </a:pPr>
            <a:r>
              <a:rPr sz="1800" b="1" i="0">
                <a:solidFill>
                  <a:srgbClr val="14214C"/>
                </a:solidFill>
              </a:rPr>
              <a:t>Worked example — Motorcycle counter at Lunch</a:t>
            </a:r>
          </a:p>
        </p:txBody>
      </p:sp>
      <p:sp>
        <p:nvSpPr>
          <p:cNvPr id="9" name="worked-example-inputs">
            <a:extLst xmlns:a="http://schemas.openxmlformats.org/drawingml/2006/main">
              <a:ext uri="{FF2B5EF4-FFF2-40B4-BE49-F238E27FC236}">
                <a16:creationId xmlns:a16="http://schemas.microsoft.com/office/drawing/2014/main" id="{47F3FB67-1800-455C-B751-41123664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078"/>
                </a:solidFill>
              </a:defRPr>
            </a:pPr>
            <a:r>
              <a:rPr sz="1125" b="0" i="0">
                <a:solidFill>
                  <a:srgbClr val="526078"/>
                </a:solidFill>
              </a:rPr>
              <a:t>c_B = 1 per counter   •   p_B = 15 per unmet unit   •   D ∈ {2, 3, 4, 5, 6} with probabilities {0.1, 0.2, 0.4, 0.2, 0.1}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78657-517D-4236-98C1-3C949ADF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76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8DDE8"/>
            </a:solidFill>
            <a:prstDash val="solid"/>
          </a:ln>
        </p:spPr>
      </p:sp>
      <p:sp>
        <p:nvSpPr>
          <p:cNvPr id="11" name="n4-label">
            <a:extLst xmlns:a="http://schemas.openxmlformats.org/drawingml/2006/main">
              <a:ext uri="{FF2B5EF4-FFF2-40B4-BE49-F238E27FC236}">
                <a16:creationId xmlns:a16="http://schemas.microsoft.com/office/drawing/2014/main" id="{4FA9265A-4AE8-4BC8-A5AB-9B6BC7D3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214C"/>
                </a:solidFill>
              </a:defRPr>
            </a:pPr>
            <a:r>
              <a:rPr sz="1350" b="1" i="0">
                <a:solidFill>
                  <a:srgbClr val="14214C"/>
                </a:solidFill>
              </a:rPr>
              <a:t>Open n = 4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4d9cea15d4239"/>
          <a:stretch xmlns:a="http://schemas.openxmlformats.org/drawingml/2006/main"/>
        </p:blipFill>
        <p:spPr>
          <a:xfrm xmlns:a="http://schemas.openxmlformats.org/drawingml/2006/main">
            <a:off x="2133600" y="4070644"/>
            <a:ext cx="5143500" cy="193087"/>
          </a:xfrm>
          <a:prstGeom xmlns:a="http://schemas.openxmlformats.org/drawingml/2006/main" prst="rect">
            <a:avLst/>
          </a:prstGeom>
        </p:spPr>
      </p:pic>
      <p:sp>
        <p:nvSpPr>
          <p:cNvPr id="13" name="n4-note">
            <a:extLst xmlns:a="http://schemas.openxmlformats.org/drawingml/2006/main">
              <a:ext uri="{FF2B5EF4-FFF2-40B4-BE49-F238E27FC236}">
                <a16:creationId xmlns:a16="http://schemas.microsoft.com/office/drawing/2014/main" id="{472D1619-645D-4871-9753-2C1F25AB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148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078"/>
                </a:solidFill>
              </a:defRPr>
            </a:pPr>
            <a:r>
              <a:rPr sz="975" b="0" i="0">
                <a:solidFill>
                  <a:srgbClr val="526078"/>
                </a:solidFill>
              </a:rPr>
              <a:t>Only demand outcomes 5 and 6 create a shortage.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D8459-A162-4E34-9D0A-7EEABC94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676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BFC9EA"/>
            </a:solidFill>
            <a:prstDash val="solid"/>
          </a:ln>
        </p:spPr>
      </p:sp>
      <p:sp>
        <p:nvSpPr>
          <p:cNvPr id="15" name="n5-label">
            <a:extLst xmlns:a="http://schemas.openxmlformats.org/drawingml/2006/main">
              <a:ext uri="{FF2B5EF4-FFF2-40B4-BE49-F238E27FC236}">
                <a16:creationId xmlns:a16="http://schemas.microsoft.com/office/drawing/2014/main" id="{09436185-14D5-481A-8569-4747FC8F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214C"/>
                </a:solidFill>
              </a:defRPr>
            </a:pPr>
            <a:r>
              <a:rPr sz="1350" b="1" i="0">
                <a:solidFill>
                  <a:srgbClr val="14214C"/>
                </a:solidFill>
              </a:rPr>
              <a:t>Open n = 5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35dcd294b4ea0"/>
          <a:stretch xmlns:a="http://schemas.openxmlformats.org/drawingml/2006/main"/>
        </p:blipFill>
        <p:spPr>
          <a:xfrm xmlns:a="http://schemas.openxmlformats.org/drawingml/2006/main">
            <a:off x="2133600" y="4842316"/>
            <a:ext cx="5143500" cy="230893"/>
          </a:xfrm>
          <a:prstGeom xmlns:a="http://schemas.openxmlformats.org/drawingml/2006/main" prst="rect">
            <a:avLst/>
          </a:prstGeom>
        </p:spPr>
      </p:pic>
      <p:sp>
        <p:nvSpPr>
          <p:cNvPr id="17" name="n5-note">
            <a:extLst xmlns:a="http://schemas.openxmlformats.org/drawingml/2006/main">
              <a:ext uri="{FF2B5EF4-FFF2-40B4-BE49-F238E27FC236}">
                <a16:creationId xmlns:a16="http://schemas.microsoft.com/office/drawing/2014/main" id="{33930C8F-C252-47D9-8219-561430D8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054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705B"/>
                </a:solidFill>
              </a:defRPr>
            </a:pPr>
            <a:r>
              <a:rPr sz="975" b="1" i="0">
                <a:solidFill>
                  <a:srgbClr val="17705B"/>
                </a:solidFill>
              </a:rPr>
              <a:t>One extra counter lowers expected cost by 3.5.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AA150-42C3-45DA-A1D7-745000CB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9525" cy="232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8"/>
            </a:solidFill>
            <a:prstDash val="solid"/>
          </a:ln>
        </p:spPr>
      </p:sp>
      <p:sp>
        <p:nvSpPr>
          <p:cNvPr id="19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8B019B49-1093-4A2E-8408-876B9150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214C"/>
                </a:solidFill>
              </a:defRPr>
            </a:pPr>
            <a:r>
              <a:rPr sz="1800" b="1" i="0">
                <a:solidFill>
                  <a:srgbClr val="14214C"/>
                </a:solidFill>
              </a:rPr>
              <a:t>Full-plan impact</a:t>
            </a:r>
          </a:p>
        </p:txBody>
      </p:sp>
      <p:sp>
        <p:nvSpPr>
          <p:cNvPr id="20" name="impact-value">
            <a:extLst xmlns:a="http://schemas.openxmlformats.org/drawingml/2006/main">
              <a:ext uri="{FF2B5EF4-FFF2-40B4-BE49-F238E27FC236}">
                <a16:creationId xmlns:a16="http://schemas.microsoft.com/office/drawing/2014/main" id="{AA875BAF-4A55-43C1-8939-96A8424A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76625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7245F"/>
                </a:solidFill>
              </a:defRPr>
            </a:pPr>
            <a:r>
              <a:rPr sz="2850" b="1" i="0">
                <a:solidFill>
                  <a:srgbClr val="17245F"/>
                </a:solidFill>
              </a:rPr>
              <a:t>219.0  →  169.5</a:t>
            </a:r>
          </a:p>
        </p:txBody>
      </p:sp>
      <p:sp>
        <p:nvSpPr>
          <p:cNvPr id="21" name="impact-delta">
            <a:extLst xmlns:a="http://schemas.openxmlformats.org/drawingml/2006/main">
              <a:ext uri="{FF2B5EF4-FFF2-40B4-BE49-F238E27FC236}">
                <a16:creationId xmlns:a16="http://schemas.microsoft.com/office/drawing/2014/main" id="{EC3595FF-296A-458F-8A1A-C46BA744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705B"/>
                </a:solidFill>
              </a:defRPr>
            </a:pPr>
            <a:r>
              <a:rPr sz="1350" b="1" i="0">
                <a:solidFill>
                  <a:srgbClr val="17705B"/>
                </a:solidFill>
              </a:rPr>
              <a:t>−49.5 expected cost  (−22.6%)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7CBD7-B1F7-404F-9118-C3ABF644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8"/>
            </a:solidFill>
            <a:prstDash val="solid"/>
          </a:ln>
        </p:spPr>
      </p:sp>
      <p:sp>
        <p:nvSpPr>
          <p:cNvPr id="23" name="nominal-label">
            <a:extLst xmlns:a="http://schemas.openxmlformats.org/drawingml/2006/main">
              <a:ext uri="{FF2B5EF4-FFF2-40B4-BE49-F238E27FC236}">
                <a16:creationId xmlns:a16="http://schemas.microsoft.com/office/drawing/2014/main" id="{EB98C597-141F-4EC5-BCAD-250086FC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81525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4214C"/>
                </a:solidFill>
              </a:defRPr>
            </a:pPr>
            <a:r>
              <a:rPr sz="1125" b="1" i="0">
                <a:solidFill>
                  <a:srgbClr val="14214C"/>
                </a:solidFill>
              </a:rPr>
              <a:t>Nominal</a:t>
            </a:r>
          </a:p>
        </p:txBody>
      </p:sp>
      <p:sp>
        <p:nvSpPr>
          <p:cNvPr id="24" name="nominal-breakdown">
            <a:extLst xmlns:a="http://schemas.openxmlformats.org/drawingml/2006/main">
              <a:ext uri="{FF2B5EF4-FFF2-40B4-BE49-F238E27FC236}">
                <a16:creationId xmlns:a16="http://schemas.microsoft.com/office/drawing/2014/main" id="{AF5E6636-7E9F-4074-8595-705A0A6A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815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26078"/>
                </a:solidFill>
              </a:defRPr>
            </a:pPr>
            <a:r>
              <a:rPr sz="1125" b="0" i="0">
                <a:solidFill>
                  <a:srgbClr val="526078"/>
                </a:solidFill>
              </a:rPr>
              <a:t>97.0 open + 122.0 risk</a:t>
            </a:r>
          </a:p>
        </p:txBody>
      </p:sp>
      <p:sp>
        <p:nvSpPr>
          <p:cNvPr id="25" name="optimized-label">
            <a:extLst xmlns:a="http://schemas.openxmlformats.org/drawingml/2006/main">
              <a:ext uri="{FF2B5EF4-FFF2-40B4-BE49-F238E27FC236}">
                <a16:creationId xmlns:a16="http://schemas.microsoft.com/office/drawing/2014/main" id="{D841707E-ED72-46F2-A665-C9906AAA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4214C"/>
                </a:solidFill>
              </a:defRPr>
            </a:pPr>
            <a:r>
              <a:rPr sz="1125" b="1" i="0">
                <a:solidFill>
                  <a:srgbClr val="14214C"/>
                </a:solidFill>
              </a:rPr>
              <a:t>Optimized</a:t>
            </a:r>
          </a:p>
        </p:txBody>
      </p:sp>
      <p:sp>
        <p:nvSpPr>
          <p:cNvPr id="26" name="optimized-breakdown">
            <a:extLst xmlns:a="http://schemas.openxmlformats.org/drawingml/2006/main">
              <a:ext uri="{FF2B5EF4-FFF2-40B4-BE49-F238E27FC236}">
                <a16:creationId xmlns:a16="http://schemas.microsoft.com/office/drawing/2014/main" id="{3758F574-B7CF-49B5-BBC0-DE08B322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914900"/>
            <a:ext cx="1866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26078"/>
                </a:solidFill>
              </a:defRPr>
            </a:pPr>
            <a:r>
              <a:rPr sz="1125" b="0" i="0">
                <a:solidFill>
                  <a:srgbClr val="526078"/>
                </a:solidFill>
              </a:rPr>
              <a:t>120.0 open + 49.5 risk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617970-4B40-41BF-A800-0DA88400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qubo-label">
            <a:extLst xmlns:a="http://schemas.openxmlformats.org/drawingml/2006/main">
              <a:ext uri="{FF2B5EF4-FFF2-40B4-BE49-F238E27FC236}">
                <a16:creationId xmlns:a16="http://schemas.microsoft.com/office/drawing/2014/main" id="{C0891CE9-1730-4D14-93A3-F79CC6CC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00725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45F"/>
                </a:solidFill>
              </a:defRPr>
            </a:pPr>
            <a:r>
              <a:rPr sz="900" b="1" i="0">
                <a:solidFill>
                  <a:srgbClr val="17245F"/>
                </a:solidFill>
              </a:rPr>
              <a:t>SA SEARCH (QUBO SURROGATE)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65f6651254010"/>
          <a:stretch xmlns:a="http://schemas.openxmlformats.org/drawingml/2006/main"/>
        </p:blipFill>
        <p:spPr>
          <a:xfrm xmlns:a="http://schemas.openxmlformats.org/drawingml/2006/main">
            <a:off x="4176378" y="5753100"/>
            <a:ext cx="5677568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qubo-note">
            <a:extLst xmlns:a="http://schemas.openxmlformats.org/drawingml/2006/main">
              <a:ext uri="{FF2B5EF4-FFF2-40B4-BE49-F238E27FC236}">
                <a16:creationId xmlns:a16="http://schemas.microsoft.com/office/drawing/2014/main" id="{0A56A1E9-0938-4627-91DF-0B09EFDF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76950"/>
            <a:ext cx="1033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078"/>
                </a:solidFill>
              </a:defRPr>
            </a:pPr>
            <a:r>
              <a:rPr sz="975" b="0" i="0">
                <a:solidFill>
                  <a:srgbClr val="526078"/>
                </a:solidFill>
              </a:rPr>
              <a:t>SA finds a candidate with the quadratic surrogate; the reported 169.5 is recomputed using the exact Cₑᵥₐₗ above.</a:t>
            </a:r>
          </a:p>
        </p:txBody>
      </p:sp>
      <p:sp>
        <p:nvSpPr>
          <p:cNvPr id="3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9E98AF-2468-4413-BB00-1FC034E4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37B8E"/>
                </a:solidFill>
              </a:defRPr>
            </a:pPr>
            <a:r>
              <a:rPr sz="825" b="0" i="0">
                <a:solidFill>
                  <a:srgbClr val="737B8E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34841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654956-DCEE-4345-B4C9-055C31BF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38100"/>
            <a:ext cx="12115800" cy="678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8"/>
            </a:solidFill>
            <a:prstDash val="solid"/>
          </a:ln>
        </p:spPr>
      </p:sp>
      <p:sp>
        <p:nvSpPr>
          <p:cNvPr id="2" name="qubo-slide-title">
            <a:extLst xmlns:a="http://schemas.openxmlformats.org/drawingml/2006/main">
              <a:ext uri="{FF2B5EF4-FFF2-40B4-BE49-F238E27FC236}">
                <a16:creationId xmlns:a16="http://schemas.microsoft.com/office/drawing/2014/main" id="{3A1B031D-3514-469B-A154-9E862E2C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4214C"/>
                </a:solidFill>
              </a:defRPr>
            </a:pPr>
            <a:r>
              <a:rPr sz="2925" b="1" i="0">
                <a:solidFill>
                  <a:srgbClr val="14214C"/>
                </a:solidFill>
              </a:rPr>
              <a:t>How the Staffing Model Becomes a QUBO</a:t>
            </a:r>
          </a:p>
        </p:txBody>
      </p:sp>
      <p:sp>
        <p:nvSpPr>
          <p:cNvPr id="3" name="qubo-slide-subtitle">
            <a:extLst xmlns:a="http://schemas.openxmlformats.org/drawingml/2006/main">
              <a:ext uri="{FF2B5EF4-FFF2-40B4-BE49-F238E27FC236}">
                <a16:creationId xmlns:a16="http://schemas.microsoft.com/office/drawing/2014/main" id="{6F254FD5-606B-4EEB-A8CA-4754901C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078"/>
                </a:solidFill>
              </a:defRPr>
            </a:pPr>
            <a:r>
              <a:rPr sz="1275" b="0" i="0">
                <a:solidFill>
                  <a:srgbClr val="526078"/>
                </a:solidFill>
              </a:rPr>
              <a:t>The quadratic shortfall fit creates linear and pairwise binary coefficients that simulated annealing can sample.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37A2B-1535-4231-A846-731F2F9B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72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ubo-banner-label">
            <a:extLst xmlns:a="http://schemas.openxmlformats.org/drawingml/2006/main">
              <a:ext uri="{FF2B5EF4-FFF2-40B4-BE49-F238E27FC236}">
                <a16:creationId xmlns:a16="http://schemas.microsoft.com/office/drawing/2014/main" id="{F3F65160-F2E6-440C-9250-9DB300AB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8D0F6"/>
                </a:solidFill>
              </a:defRPr>
            </a:pPr>
            <a:r>
              <a:rPr sz="1050" b="1" i="0">
                <a:solidFill>
                  <a:srgbClr val="C8D0F6"/>
                </a:solidFill>
              </a:rPr>
              <a:t>QUBO SEARCH OBJECTIVE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79a9e185b45a0"/>
          <a:stretch xmlns:a="http://schemas.openxmlformats.org/drawingml/2006/main"/>
        </p:blipFill>
        <p:spPr>
          <a:xfrm xmlns:a="http://schemas.openxmlformats.org/drawingml/2006/main">
            <a:off x="990600" y="1940790"/>
            <a:ext cx="10096500" cy="442770"/>
          </a:xfrm>
          <a:prstGeom xmlns:a="http://schemas.openxmlformats.org/drawingml/2006/main" prst="rect">
            <a:avLst/>
          </a:prstGeom>
        </p:spPr>
      </p:pic>
      <p:sp>
        <p:nvSpPr>
          <p:cNvPr id="7" name="qubo-banner-legend">
            <a:extLst xmlns:a="http://schemas.openxmlformats.org/drawingml/2006/main">
              <a:ext uri="{FF2B5EF4-FFF2-40B4-BE49-F238E27FC236}">
                <a16:creationId xmlns:a16="http://schemas.microsoft.com/office/drawing/2014/main" id="{C97C63A8-B6DA-4E5E-9F8C-8ADD9E5D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9620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DDE3FF"/>
                </a:solidFill>
              </a:defRPr>
            </a:pPr>
            <a:r>
              <a:rPr sz="975" b="0" i="0">
                <a:solidFill>
                  <a:srgbClr val="DDE3FF"/>
                </a:solidFill>
              </a:rPr>
              <a:t>opening cost                     +                     one-officer penalty                     +                     quadratic shortage cost</a:t>
            </a:r>
          </a:p>
        </p:txBody>
      </p:sp>
      <p:sp>
        <p:nvSpPr>
          <p:cNvPr id="8" name="qubo-worked-title">
            <a:extLst xmlns:a="http://schemas.openxmlformats.org/drawingml/2006/main">
              <a:ext uri="{FF2B5EF4-FFF2-40B4-BE49-F238E27FC236}">
                <a16:creationId xmlns:a16="http://schemas.microsoft.com/office/drawing/2014/main" id="{131EB139-EF8B-43C4-A6D5-BB44802B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214C"/>
                </a:solidFill>
              </a:defRPr>
            </a:pPr>
            <a:r>
              <a:rPr sz="1800" b="1" i="0">
                <a:solidFill>
                  <a:srgbClr val="14214C"/>
                </a:solidFill>
              </a:rPr>
              <a:t>Worked contribution — Motorcycle, Lunch</a:t>
            </a:r>
          </a:p>
        </p:txBody>
      </p:sp>
      <p:sp>
        <p:nvSpPr>
          <p:cNvPr id="9" name="qubo-step1">
            <a:extLst xmlns:a="http://schemas.openxmlformats.org/drawingml/2006/main">
              <a:ext uri="{FF2B5EF4-FFF2-40B4-BE49-F238E27FC236}">
                <a16:creationId xmlns:a16="http://schemas.microsoft.com/office/drawing/2014/main" id="{20F6A62D-D41F-461D-803B-C76DCAD1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4214C"/>
                </a:solidFill>
              </a:defRPr>
            </a:pPr>
            <a:r>
              <a:rPr sz="1275" b="1" i="0">
                <a:solidFill>
                  <a:srgbClr val="14214C"/>
                </a:solidFill>
              </a:rPr>
              <a:t>1  Fit the exact shortfall values with a parabola</a:t>
            </a:r>
          </a:p>
        </p:txBody>
      </p:sp>
      <p:sp>
        <p:nvSpPr>
          <p:cNvPr id="10" name="qubo-fit-data">
            <a:extLst xmlns:a="http://schemas.openxmlformats.org/drawingml/2006/main">
              <a:ext uri="{FF2B5EF4-FFF2-40B4-BE49-F238E27FC236}">
                <a16:creationId xmlns:a16="http://schemas.microsoft.com/office/drawing/2014/main" id="{A228CB46-443D-49DB-95F7-63E63BF4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7052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078"/>
                </a:solidFill>
              </a:defRPr>
            </a:pPr>
            <a:r>
              <a:rPr sz="1125" b="0" i="0">
                <a:solidFill>
                  <a:srgbClr val="526078"/>
                </a:solidFill>
              </a:rPr>
              <a:t>n             0        1        2        3        4        5        6</a:t>
            </a:r>
          </a:p>
          <a:p xmlns:a="http://schemas.openxmlformats.org/drawingml/2006/main">
            <a:pPr algn="l">
              <a:defRPr sz="1125" b="0" i="0">
                <a:solidFill>
                  <a:srgbClr val="526078"/>
                </a:solidFill>
              </a:defRPr>
            </a:pPr>
            <a:r>
              <a:rPr sz="1125" b="0" i="0">
                <a:solidFill>
                  <a:srgbClr val="526078"/>
                </a:solidFill>
              </a:rPr>
              <a:t>Exact L(n)   4.0     3.0     2.0     1.1     0.4     0.1     0.0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de2fed1d945ea"/>
          <a:stretch xmlns:a="http://schemas.openxmlformats.org/drawingml/2006/main"/>
        </p:blipFill>
        <p:spPr>
          <a:xfrm xmlns:a="http://schemas.openxmlformats.org/drawingml/2006/main">
            <a:off x="1649016" y="4162425"/>
            <a:ext cx="4798219" cy="3714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8BCE8-4960-4C93-85DD-76BA1C2D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676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8"/>
            </a:solidFill>
            <a:prstDash val="solid"/>
          </a:ln>
        </p:spPr>
      </p:sp>
      <p:sp>
        <p:nvSpPr>
          <p:cNvPr id="13" name="qubo-step2">
            <a:extLst xmlns:a="http://schemas.openxmlformats.org/drawingml/2006/main">
              <a:ext uri="{FF2B5EF4-FFF2-40B4-BE49-F238E27FC236}">
                <a16:creationId xmlns:a16="http://schemas.microsoft.com/office/drawing/2014/main" id="{9FFD614F-434F-4412-AA2E-F29C9178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4214C"/>
                </a:solidFill>
              </a:defRPr>
            </a:pPr>
            <a:r>
              <a:rPr sz="1275" b="1" i="0">
                <a:solidFill>
                  <a:srgbClr val="14214C"/>
                </a:solidFill>
              </a:rPr>
              <a:t>2  Substitute the binary count and use x² = x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8b90a4860453b"/>
          <a:stretch xmlns:a="http://schemas.openxmlformats.org/drawingml/2006/main"/>
        </p:blipFill>
        <p:spPr>
          <a:xfrm xmlns:a="http://schemas.openxmlformats.org/drawingml/2006/main">
            <a:off x="838200" y="5157862"/>
            <a:ext cx="6572250" cy="218926"/>
          </a:xfrm>
          <a:prstGeom xmlns:a="http://schemas.openxmlformats.org/drawingml/2006/main" prst="rect">
            <a:avLst/>
          </a:prstGeom>
        </p:spPr>
      </p:pic>
      <p:sp>
        <p:nvSpPr>
          <p:cNvPr id="15" name="qubo-constant-note">
            <a:extLst xmlns:a="http://schemas.openxmlformats.org/drawingml/2006/main">
              <a:ext uri="{FF2B5EF4-FFF2-40B4-BE49-F238E27FC236}">
                <a16:creationId xmlns:a16="http://schemas.microsoft.com/office/drawing/2014/main" id="{FB112ED5-1CE4-49CA-B7BD-1CBAF69E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14975"/>
            <a:ext cx="642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078"/>
                </a:solidFill>
              </a:defRPr>
            </a:pPr>
            <a:r>
              <a:rPr sz="1050" b="0" i="0">
                <a:solidFill>
                  <a:srgbClr val="526078"/>
                </a:solidFill>
              </a:rPr>
              <a:t>The constant 61.393 shifts every energy equally, so it does not change the best bitstring.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BD87C-DBEA-4012-A158-69F3440B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028950"/>
            <a:ext cx="9525" cy="2686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8"/>
            </a:solidFill>
            <a:prstDash val="solid"/>
          </a:ln>
        </p:spPr>
      </p:sp>
      <p:sp>
        <p:nvSpPr>
          <p:cNvPr id="17" name="qubo-coeff-title">
            <a:extLst xmlns:a="http://schemas.openxmlformats.org/drawingml/2006/main">
              <a:ext uri="{FF2B5EF4-FFF2-40B4-BE49-F238E27FC236}">
                <a16:creationId xmlns:a16="http://schemas.microsoft.com/office/drawing/2014/main" id="{5DF5F058-9BD6-4A26-BD6D-4799D6DA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908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214C"/>
                </a:solidFill>
              </a:defRPr>
            </a:pPr>
            <a:r>
              <a:rPr sz="1800" b="1" i="0">
                <a:solidFill>
                  <a:srgbClr val="14214C"/>
                </a:solidFill>
              </a:rPr>
              <a:t>Resulting coefficients</a:t>
            </a:r>
          </a:p>
        </p:txBody>
      </p:sp>
      <p:sp>
        <p:nvSpPr>
          <p:cNvPr id="18" name="qubo-linear-value">
            <a:extLst xmlns:a="http://schemas.openxmlformats.org/drawingml/2006/main">
              <a:ext uri="{FF2B5EF4-FFF2-40B4-BE49-F238E27FC236}">
                <a16:creationId xmlns:a16="http://schemas.microsoft.com/office/drawing/2014/main" id="{29566A3F-82FC-45E0-98DC-065724CF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05200"/>
            <a:ext cx="1381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245F"/>
                </a:solidFill>
              </a:defRPr>
            </a:pPr>
            <a:r>
              <a:rPr sz="2175" b="1" i="0">
                <a:solidFill>
                  <a:srgbClr val="17245F"/>
                </a:solidFill>
              </a:rPr>
              <a:t>−17.843</a:t>
            </a:r>
          </a:p>
        </p:txBody>
      </p:sp>
      <p:sp>
        <p:nvSpPr>
          <p:cNvPr id="19" name="qubo-linear-label">
            <a:extLst xmlns:a="http://schemas.openxmlformats.org/drawingml/2006/main">
              <a:ext uri="{FF2B5EF4-FFF2-40B4-BE49-F238E27FC236}">
                <a16:creationId xmlns:a16="http://schemas.microsoft.com/office/drawing/2014/main" id="{32CCCBAF-20C1-4F63-BEB9-FF27E6BD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495675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078"/>
                </a:solidFill>
              </a:defRPr>
            </a:pPr>
            <a:r>
              <a:rPr sz="1125" b="0" i="0">
                <a:solidFill>
                  <a:srgbClr val="526078"/>
                </a:solidFill>
              </a:rPr>
              <a:t>per eligible Motorcycle</a:t>
            </a:r>
          </a:p>
          <a:p xmlns:a="http://schemas.openxmlformats.org/drawingml/2006/main">
            <a:pPr algn="l">
              <a:defRPr sz="1125" b="0" i="0">
                <a:solidFill>
                  <a:srgbClr val="526078"/>
                </a:solidFill>
              </a:defRPr>
            </a:pPr>
            <a:r>
              <a:rPr sz="1125" b="0" i="0">
                <a:solidFill>
                  <a:srgbClr val="526078"/>
                </a:solidFill>
              </a:rPr>
              <a:t>assignment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1361A-D33E-4425-AA36-3925D6D0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8"/>
            </a:solidFill>
            <a:prstDash val="solid"/>
          </a:ln>
        </p:spPr>
      </p:sp>
      <p:sp>
        <p:nvSpPr>
          <p:cNvPr id="21" name="qubo-pair-value">
            <a:extLst xmlns:a="http://schemas.openxmlformats.org/drawingml/2006/main">
              <a:ext uri="{FF2B5EF4-FFF2-40B4-BE49-F238E27FC236}">
                <a16:creationId xmlns:a16="http://schemas.microsoft.com/office/drawing/2014/main" id="{0FF40B2A-FA4D-48D9-8A94-63F8C370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1381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245F"/>
                </a:solidFill>
              </a:defRPr>
            </a:pPr>
            <a:r>
              <a:rPr sz="2175" b="1" i="0">
                <a:solidFill>
                  <a:srgbClr val="17245F"/>
                </a:solidFill>
              </a:rPr>
              <a:t>+3.000</a:t>
            </a:r>
          </a:p>
        </p:txBody>
      </p:sp>
      <p:sp>
        <p:nvSpPr>
          <p:cNvPr id="22" name="qubo-pair-label">
            <a:extLst xmlns:a="http://schemas.openxmlformats.org/drawingml/2006/main">
              <a:ext uri="{FF2B5EF4-FFF2-40B4-BE49-F238E27FC236}">
                <a16:creationId xmlns:a16="http://schemas.microsoft.com/office/drawing/2014/main" id="{41599126-075D-491F-B767-03F27AC7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162425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078"/>
                </a:solidFill>
              </a:defRPr>
            </a:pPr>
            <a:r>
              <a:rPr sz="1125" b="0" i="0">
                <a:solidFill>
                  <a:srgbClr val="526078"/>
                </a:solidFill>
              </a:rPr>
              <a:t>for two Motorcycle</a:t>
            </a:r>
          </a:p>
          <a:p xmlns:a="http://schemas.openxmlformats.org/drawingml/2006/main">
            <a:pPr algn="l">
              <a:defRPr sz="1125" b="0" i="0">
                <a:solidFill>
                  <a:srgbClr val="526078"/>
                </a:solidFill>
              </a:defRPr>
            </a:pPr>
            <a:r>
              <a:rPr sz="1125" b="0" i="0">
                <a:solidFill>
                  <a:srgbClr val="526078"/>
                </a:solidFill>
              </a:rPr>
              <a:t>assignments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C69A44-7E60-4411-B101-D9784817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8"/>
            </a:solidFill>
            <a:prstDash val="solid"/>
          </a:ln>
        </p:spPr>
      </p:sp>
      <p:sp>
        <p:nvSpPr>
          <p:cNvPr id="24" name="qubo-penalty-value">
            <a:extLst xmlns:a="http://schemas.openxmlformats.org/drawingml/2006/main">
              <a:ext uri="{FF2B5EF4-FFF2-40B4-BE49-F238E27FC236}">
                <a16:creationId xmlns:a16="http://schemas.microsoft.com/office/drawing/2014/main" id="{0C11BAB6-419D-4663-AB7A-A03E867B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38700"/>
            <a:ext cx="1381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A26418"/>
                </a:solidFill>
              </a:defRPr>
            </a:pPr>
            <a:r>
              <a:rPr sz="2175" b="1" i="0">
                <a:solidFill>
                  <a:srgbClr val="A26418"/>
                </a:solidFill>
              </a:rPr>
              <a:t>+20.000</a:t>
            </a:r>
          </a:p>
        </p:txBody>
      </p:sp>
      <p:sp>
        <p:nvSpPr>
          <p:cNvPr id="25" name="qubo-penalty-label">
            <a:extLst xmlns:a="http://schemas.openxmlformats.org/drawingml/2006/main">
              <a:ext uri="{FF2B5EF4-FFF2-40B4-BE49-F238E27FC236}">
                <a16:creationId xmlns:a16="http://schemas.microsoft.com/office/drawing/2014/main" id="{6D9D020E-2907-4146-B156-CC06C896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829175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078"/>
                </a:solidFill>
              </a:defRPr>
            </a:pPr>
            <a:r>
              <a:rPr sz="1125" b="0" i="0">
                <a:solidFill>
                  <a:srgbClr val="526078"/>
                </a:solidFill>
              </a:rPr>
              <a:t>when one officer is</a:t>
            </a:r>
          </a:p>
          <a:p xmlns:a="http://schemas.openxmlformats.org/drawingml/2006/main">
            <a:pPr algn="l">
              <a:defRPr sz="1125" b="0" i="0">
                <a:solidFill>
                  <a:srgbClr val="526078"/>
                </a:solidFill>
              </a:defRPr>
            </a:pPr>
            <a:r>
              <a:rPr sz="1125" b="0" i="0">
                <a:solidFill>
                  <a:srgbClr val="526078"/>
                </a:solidFill>
              </a:rPr>
              <a:t>double-booked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927810d314e2d"/>
          <a:stretch xmlns:a="http://schemas.openxmlformats.org/drawingml/2006/main"/>
        </p:blipFill>
        <p:spPr>
          <a:xfrm xmlns:a="http://schemas.openxmlformats.org/drawingml/2006/main">
            <a:off x="8096250" y="5424552"/>
            <a:ext cx="3333750" cy="15227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DFE22E-9CEA-4B32-BBB4-4F3A5EAC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qubo-interpretation-label">
            <a:extLst xmlns:a="http://schemas.openxmlformats.org/drawingml/2006/main">
              <a:ext uri="{FF2B5EF4-FFF2-40B4-BE49-F238E27FC236}">
                <a16:creationId xmlns:a16="http://schemas.microsoft.com/office/drawing/2014/main" id="{FCB50F47-949C-424F-ACAA-107669DF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45F"/>
                </a:solidFill>
              </a:defRPr>
            </a:pPr>
            <a:r>
              <a:rPr sz="975" b="1" i="0">
                <a:solidFill>
                  <a:srgbClr val="17245F"/>
                </a:solidFill>
              </a:rPr>
              <a:t>Interpretation</a:t>
            </a:r>
          </a:p>
        </p:txBody>
      </p:sp>
      <p:sp>
        <p:nvSpPr>
          <p:cNvPr id="29" name="qubo-interpretation">
            <a:extLst xmlns:a="http://schemas.openxmlformats.org/drawingml/2006/main">
              <a:ext uri="{FF2B5EF4-FFF2-40B4-BE49-F238E27FC236}">
                <a16:creationId xmlns:a16="http://schemas.microsoft.com/office/drawing/2014/main" id="{BE80D1C1-A61B-4CC8-B5E5-923E23DE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0007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078"/>
                </a:solidFill>
              </a:defRPr>
            </a:pPr>
            <a:r>
              <a:rPr sz="1050" b="0" i="0">
                <a:solidFill>
                  <a:srgbClr val="526078"/>
                </a:solidFill>
              </a:rPr>
              <a:t>The negative linear term rewards useful staffing; the positive pair term makes its marginal benefit diminish. SA samples the full 440-variable QUBO, then the app recomputes the exact final cost.</a:t>
            </a:r>
          </a:p>
        </p:txBody>
      </p:sp>
      <p:sp>
        <p:nvSpPr>
          <p:cNvPr id="30" name="qubo-page-number">
            <a:extLst xmlns:a="http://schemas.openxmlformats.org/drawingml/2006/main">
              <a:ext uri="{FF2B5EF4-FFF2-40B4-BE49-F238E27FC236}">
                <a16:creationId xmlns:a16="http://schemas.microsoft.com/office/drawing/2014/main" id="{8BC53D75-3194-40C6-A677-A5DD3ABF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37B8E"/>
                </a:solidFill>
              </a:defRPr>
            </a:pPr>
            <a:r>
              <a:rPr sz="825" b="0" i="0">
                <a:solidFill>
                  <a:srgbClr val="737B8E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1243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2026-08-27T03:44:11.9100000Z</dcterms:created>
  <dcterms:modified xsi:type="dcterms:W3CDTF">2026-08-27T03:44:11.9100000Z</dcterms:modified>
</coreProperties>
</file>